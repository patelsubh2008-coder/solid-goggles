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6858000" cy="9144000"/>
  <p:embeddedFontLst>
    <p:embeddedFont>
      <p:font typeface="Inter Medium" charset="0"/>
      <p:regular r:id="rId19"/>
      <p:bold r:id="rId20"/>
      <p:italic r:id="rId21"/>
      <p:boldItalic r:id="rId22"/>
    </p:embeddedFont>
    <p:embeddedFont>
      <p:font typeface="Poppins" charset="0"/>
      <p:regular r:id="rId23"/>
      <p:bold r:id="rId24"/>
      <p:italic r:id="rId25"/>
      <p:boldItalic r:id="rId26"/>
    </p:embeddedFont>
    <p:embeddedFont>
      <p:font typeface="Inter SemiBold" charset="0"/>
      <p:regular r:id="rId27"/>
      <p:bold r:id="rId28"/>
      <p:italic r:id="rId29"/>
      <p:boldItalic r:id="rId30"/>
    </p:embeddedFont>
    <p:embeddedFont>
      <p:font typeface="Calibri" pitchFamily="34" charset="0"/>
      <p:regular r:id="rId31"/>
      <p:bold r:id="rId32"/>
      <p:italic r:id="rId33"/>
      <p:boldItalic r:id="rId34"/>
    </p:embeddedFont>
    <p:embeddedFont>
      <p:font typeface="Inter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-629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telsubh2008-coder/subham-patel/blob/main/Cyber%20Fraud%20COMPUTER%20IN%20DIPLOMA.ppt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898427"/>
            <a:ext cx="5841206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6081" y="2898427"/>
            <a:ext cx="4779168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152775" y="1578322"/>
            <a:ext cx="58864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Electronics &amp; Communication Engineering Diploma Project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480548" y="1968847"/>
            <a:ext cx="723090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Cyber Fraud &amp; Digital Security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14400" y="3098452"/>
            <a:ext cx="534590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Student Profile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914400" y="3374677"/>
            <a:ext cx="534590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3527077"/>
            <a:ext cx="5345906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Student Name: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 smtClean="0">
                <a:solidFill>
                  <a:srgbClr val="F8FAFC"/>
                </a:solidFill>
                <a:latin typeface="Inter SemiBold"/>
                <a:ea typeface="Inter SemiBold"/>
                <a:cs typeface="Inter"/>
                <a:sym typeface="Inter SemiBold"/>
              </a:rPr>
              <a:t> PATEL SUBHAM BHAVESH BHAI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914400" y="3765202"/>
            <a:ext cx="534590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3869977"/>
            <a:ext cx="5345906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Enrollment Number: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 smtClean="0">
                <a:solidFill>
                  <a:srgbClr val="F8FAFC"/>
                </a:solidFill>
                <a:latin typeface="Inter SemiBold"/>
                <a:ea typeface="Inter SemiBold"/>
                <a:cs typeface="Inter"/>
                <a:sym typeface="Inter SemiBold"/>
              </a:rPr>
              <a:t> 246310307124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914400" y="4108102"/>
            <a:ext cx="534590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914400" y="4212877"/>
            <a:ext cx="5345906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Gender: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 smtClean="0">
                <a:solidFill>
                  <a:srgbClr val="F8FAFC"/>
                </a:solidFill>
                <a:latin typeface="Inter SemiBold"/>
                <a:ea typeface="Inter SemiBold"/>
                <a:cs typeface="Inter"/>
                <a:sym typeface="Inter SemiBold"/>
              </a:rPr>
              <a:t>  MALE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914400" y="4451002"/>
            <a:ext cx="534590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914400" y="4555777"/>
            <a:ext cx="5345906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Email ID: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 smtClean="0">
                <a:solidFill>
                  <a:srgbClr val="F8FAFC"/>
                </a:solidFill>
                <a:latin typeface="Inter SemiBold"/>
                <a:ea typeface="Inter SemiBold"/>
                <a:cs typeface="Inter"/>
                <a:sym typeface="Inter SemiBold"/>
              </a:rPr>
              <a:t> patelsubh2008@gmail.com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914400" y="4793902"/>
            <a:ext cx="534590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4898677"/>
            <a:ext cx="5345906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Contact Number: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 smtClean="0">
                <a:solidFill>
                  <a:srgbClr val="F8FAFC"/>
                </a:solidFill>
                <a:latin typeface="Inter SemiBold"/>
                <a:ea typeface="Inter SemiBold"/>
                <a:cs typeface="Inter"/>
                <a:sym typeface="Inter SemiBold"/>
              </a:rPr>
              <a:t> 9313166351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993731" y="3098452"/>
            <a:ext cx="428386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Academic Details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6993731" y="3374677"/>
            <a:ext cx="4283868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6993731" y="3527077"/>
            <a:ext cx="428386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College Name: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 smtClean="0">
                <a:solidFill>
                  <a:srgbClr val="F8FAFC"/>
                </a:solidFill>
                <a:latin typeface="Inter SemiBold"/>
                <a:ea typeface="Inter SemiBold"/>
                <a:cs typeface="Inter"/>
                <a:sym typeface="Inter SemiBold"/>
              </a:rPr>
              <a:t> k d polytechnic </a:t>
            </a:r>
            <a:r>
              <a:rPr lang="en-US" sz="1125" dirty="0" err="1" smtClean="0">
                <a:solidFill>
                  <a:srgbClr val="F8FAFC"/>
                </a:solidFill>
                <a:latin typeface="Inter SemiBold"/>
                <a:ea typeface="Inter SemiBold"/>
                <a:cs typeface="Inter"/>
                <a:sym typeface="Inter SemiBold"/>
              </a:rPr>
              <a:t>patan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6993731" y="3765202"/>
            <a:ext cx="42838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993731" y="3869977"/>
            <a:ext cx="428386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Branch &amp; Year: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smtClean="0">
                <a:solidFill>
                  <a:srgbClr val="F8FAFC"/>
                </a:solidFill>
                <a:latin typeface="Inter SemiBold"/>
                <a:ea typeface="Inter SemiBold"/>
                <a:cs typeface="Inter"/>
                <a:sym typeface="Inter SemiBold"/>
              </a:rPr>
              <a:t>Computer</a:t>
            </a:r>
            <a:r>
              <a:rPr lang="en-US" sz="1125" b="0" i="0" u="none" strike="noStrike" cap="none" dirty="0" smtClean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Engineering </a:t>
            </a:r>
            <a:r>
              <a:rPr lang="en-US" sz="1125" b="0" i="0" u="none" strike="noStrike" cap="none" dirty="0" smtClean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(3rd 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Year)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6993731" y="4108102"/>
            <a:ext cx="42838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6993731" y="4212877"/>
            <a:ext cx="428386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Branch Code:</a:t>
            </a:r>
            <a:r>
              <a:rPr lang="en-US" sz="1125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 smtClean="0">
                <a:solidFill>
                  <a:srgbClr val="F8FAFC"/>
                </a:solidFill>
                <a:latin typeface="Inter SemiBold"/>
                <a:ea typeface="Inter SemiBold"/>
                <a:cs typeface="Inter"/>
                <a:sym typeface="Inter SemiBold"/>
              </a:rPr>
              <a:t> 07</a:t>
            </a:r>
          </a:p>
        </p:txBody>
      </p:sp>
      <p:pic>
        <p:nvPicPr>
          <p:cNvPr id="107" name="Google Shape;10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311750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93731" y="3117502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182415"/>
            <a:ext cx="5262562" cy="3426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182415"/>
            <a:ext cx="5262562" cy="342661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962025" y="2477690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 1: Foundations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62025" y="2906315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01. Introduction: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Overview of networks and digital connectivity risks.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62025" y="3508176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02. Project Purpose: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Scope, educational objectives, and target goals.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62025" y="4110037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03. Methodology: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Linear phase-wise research and design structure.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62025" y="4711898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04. Types of Cyber Fraud: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Phishing, identity theft, and online scams.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557962" y="2477690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 2: Engineering &amp; Law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557962" y="2906315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05. EC System Vulnerabilities: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Network loops, MitM, and hardware gaps.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557962" y="3508176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06. Security Defense: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Active countermeasures, AES/RSA, and updates.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557962" y="4110037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07. Reporting &amp; Cyber Laws: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IT Act 2000, Helpline 1930 protocols.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557962" y="4711898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08. Project Key Learnings: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Engineering takeaways and conclusions.</a:t>
            </a:r>
            <a:endParaRPr/>
          </a:p>
        </p:txBody>
      </p:sp>
      <p:pic>
        <p:nvPicPr>
          <p:cNvPr id="126" name="Google Shape;12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52531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7962" y="252531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4605337" y="476250"/>
            <a:ext cx="313039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Structure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4605337" y="1095375"/>
            <a:ext cx="298132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868215"/>
            <a:ext cx="5262562" cy="2055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868215"/>
            <a:ext cx="5262562" cy="2055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962025" y="3163490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Digital Era &amp; Threats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62025" y="3592115"/>
            <a:ext cx="4672012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our modern interconnected world, digital communication and networks form the backbone of society. However, this hyper-connectivity exponentially increases the risk of identity theft, system breaches, and financial fraud.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557962" y="3163490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Scope of EC Engineering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557962" y="3592115"/>
            <a:ext cx="4672012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Securing electronic data transit, wireless channels, and connected hardware devices demands a thorough engineering approach. This involves integrating both hardware-level defenses and solid software protocols.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4995862" y="476250"/>
            <a:ext cx="231028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4995862" y="1095375"/>
            <a:ext cx="220027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1190625" y="241756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Educational Awareness: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Educate students and daily users about rapidly increasing digital frauds, social engineering threats, and financial scams.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190625" y="315664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Vulnerability Analysis: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Examine native physical, structural, and network vulnerabilities inherent inside common Electronic Communication (EC) architectures.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190625" y="3895725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Mitigation Frameworks: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 a practical engineering guide on crucial system countermeasures, including Advanced Encryption, MFA, and secure routing.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190625" y="4634805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Incident Response: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Promote active legal awareness, immediate emergency mitigation steps, and official reporting options like the 1930 National Helpline.</a:t>
            </a:r>
            <a:endParaRPr/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43185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317093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9100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64909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4176712" y="476250"/>
            <a:ext cx="403050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Purpose of the Project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4176712" y="1095375"/>
            <a:ext cx="383857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/>
          <p:nvPr/>
        </p:nvSpPr>
        <p:spPr>
          <a:xfrm>
            <a:off x="666750" y="3971925"/>
            <a:ext cx="10858500" cy="381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87038" y="4257675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1: Research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42950" y="4572000"/>
            <a:ext cx="223644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Literature review on emerging cyber fraud trends, attack modes, and weak links in digital infrastructure.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510159" y="2850058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2: Analysis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3566070" y="3164383"/>
            <a:ext cx="2236440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Investigating core network loop holes, signal spoofing mechanisms, and data transit vulnerabilities.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333280" y="4257675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3: Design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389191" y="4572000"/>
            <a:ext cx="223644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Formulating counter-attack frameworks using AES/RSA encryption, multi-factor defenses, and secure nodes.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156401" y="2663428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4: Synthesis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212312" y="2977753"/>
            <a:ext cx="223644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Compiling findings, legal reporting mechanisms (IT Act, 1930 Helpline), and compiling the project handbook.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4271962" y="476250"/>
            <a:ext cx="383047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Methodology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4271962" y="1095375"/>
            <a:ext cx="364807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1765920" y="38957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4589040" y="38957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412161" y="38957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10235282" y="38957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640508"/>
            <a:ext cx="3492549" cy="2510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40508"/>
            <a:ext cx="3492549" cy="2510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2640508"/>
            <a:ext cx="3492549" cy="2510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88815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1467832" y="3697783"/>
            <a:ext cx="189023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Phishing Attacks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66775" y="4126408"/>
            <a:ext cx="3092499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Tricking users via fraudulent emails, links, or texts to harvest sensitive credentials and financial data.</a:t>
            </a:r>
            <a:endParaRPr/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625" y="288815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5330904" y="3697783"/>
            <a:ext cx="153019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Identity Theft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549824" y="4126408"/>
            <a:ext cx="3092499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Stealing personal information to impersonate victims, gain access to accounts, or execute illegal crimes.</a:t>
            </a:r>
            <a:endParaRPr/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45674" y="288815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8858934" y="3697783"/>
            <a:ext cx="184023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Financial Scams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232874" y="4126408"/>
            <a:ext cx="3092499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Manipulating electronic transaction nodes, cloning cards, or leveraging OTP social engineering to steal money.</a:t>
            </a:r>
            <a:endParaRPr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41500" y="305008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43600" y="3050083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83787" y="3050083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3862387" y="476250"/>
            <a:ext cx="469058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Types of Cyber Fraud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3862387" y="1095375"/>
            <a:ext cx="446722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250" y="2085975"/>
            <a:ext cx="4191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0" y="2085975"/>
            <a:ext cx="4191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809625" y="2904529"/>
            <a:ext cx="61436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Network Hijacking: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Exploiting unencrypted wireless channels and loose protocol standards to intercept active traffic.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666750" y="2904529"/>
            <a:ext cx="38100" cy="51792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809625" y="3565326"/>
            <a:ext cx="61436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Man-in-the-Middle (MitM):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Eavesdropping on communications between endpoints to record or modify critical transit packets.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666750" y="3565326"/>
            <a:ext cx="38100" cy="51792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809625" y="4226123"/>
            <a:ext cx="61436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Unsecured IoT Endpoints: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Attacking weakly configured smart sensors and hardware switches acting as entry gateways to a main server network.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666750" y="4226123"/>
            <a:ext cx="38100" cy="51792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3690937" y="476250"/>
            <a:ext cx="505063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Weaknesses in EC Systems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3690937" y="1095375"/>
            <a:ext cx="481012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14004"/>
            <a:ext cx="5262562" cy="276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514004"/>
            <a:ext cx="5262562" cy="27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62025" y="2809279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Need of the Project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62025" y="3237904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Rapid Digitalization: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rise of 5G networks and online transactions creates a wide attack surface.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962025" y="3851076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Rising Comm Frauds: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Urgent requirement to protect daily communication loops and signal systems.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962025" y="4464248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Securing IoT Nodes: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Smart electronics require robust security frameworks.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557962" y="2809279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Advantages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557962" y="3237904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Techno-Legal Awareness: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Offers a combined perspective of technical security and the Indian IT Act 2000.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557962" y="3851076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Crypto Protocols: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Teaches correct implementation of secure algorithms on packet networks.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557962" y="4464248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Damage Mitigation: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Guides users on minimizing monetary/data loss before attacks escalate.</a:t>
            </a:r>
            <a:endParaRPr/>
          </a:p>
        </p:txBody>
      </p:sp>
      <p:pic>
        <p:nvPicPr>
          <p:cNvPr id="230" name="Google Shape;23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85690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7962" y="285690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3471862" y="476250"/>
            <a:ext cx="551068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Advantages &amp; Need of Project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3471862" y="1095375"/>
            <a:ext cx="524827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1190625" y="278710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Spoofing (MAC &amp; IP):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Masking an unauthorized electronic node as a trusted device using counterfeit hardware IDs or IP addresses to bypass firewalls.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1190625" y="352618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Malicious Payloads (Malware):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Injecting viruses, spy tools, or trojans into electronic firmwares to control machinery or spy on communication lines.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1190625" y="4265265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Ransomware Scourge: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Encrypting core system files and databases, completely freezing vital machinery, and demanding crypto ransom payments.</a:t>
            </a:r>
            <a:endParaRPr/>
          </a:p>
        </p:txBody>
      </p:sp>
      <p:pic>
        <p:nvPicPr>
          <p:cNvPr id="242" name="Google Shape;24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80139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354047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427955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3829050" y="476250"/>
            <a:ext cx="476059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Common Attack Methods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3829050" y="1095375"/>
            <a:ext cx="45339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667297"/>
            <a:ext cx="5262562" cy="2456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667297"/>
            <a:ext cx="5262562" cy="245685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962025" y="2962572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Active System Defenses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962025" y="3391197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Multi-Factor Authentication (MFA):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Enforce double identity verification on access portals.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962025" y="4051994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Strong Credentials: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Utilize complex, randomized passwords to secure administrative consoles.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557962" y="2962572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Data Security Frameworks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6557962" y="3391197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Advanced Encryption: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 robust cryptographic algorithms (AES/RSA) on transit packets.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557962" y="4051994"/>
            <a:ext cx="4672012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Firmware Upgrades: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Patch security flaws on routers, physical switches, and linked hardware on a regular schedule.</a:t>
            </a:r>
            <a:endParaRPr/>
          </a:p>
        </p:txBody>
      </p:sp>
      <p:pic>
        <p:nvPicPr>
          <p:cNvPr id="260" name="Google Shape;26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01019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7962" y="301019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4014787" y="476250"/>
            <a:ext cx="437054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Prevention &amp; Mitigation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4014787" y="1095375"/>
            <a:ext cx="416242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1190625" y="241756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Theoretical Scope: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Focuses mainly on analytical reviews and software protocols rather than building custom antivirus packages or actual system kernels.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190625" y="315664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Rapidly Evolving Scams: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Threat actors constantly upgrade their social tactics, making physical defense patterns temporarily outdated.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190625" y="3895725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Hardware Dependencies: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IoT system nodes remain vulnerable to external physical interfaces depending on original equipment manufacturer specifications.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1190625" y="4634805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Human Factor: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firewall can prevent data leakage if a certified administrator voluntarily shares OTPs or confidential system credentials.</a:t>
            </a:r>
            <a:endParaRPr/>
          </a:p>
        </p:txBody>
      </p:sp>
      <p:pic>
        <p:nvPicPr>
          <p:cNvPr id="273" name="Google Shape;27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431851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317093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910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64909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4438650" y="476250"/>
            <a:ext cx="348043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Limitations</a:t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4438650" y="1095375"/>
            <a:ext cx="33147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924175"/>
            <a:ext cx="41910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0" y="2657475"/>
            <a:ext cx="6286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0" y="3648075"/>
            <a:ext cx="62865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8750" y="4448175"/>
            <a:ext cx="62865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1019175" y="3276600"/>
            <a:ext cx="3486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1930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1019175" y="4286250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National Cyber Helpline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5476875" y="2809875"/>
            <a:ext cx="1962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Golden Hour Principle: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5476875" y="380047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Information Technology (IT) Act, 2000: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5476875" y="4600575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Online Complaint Registration: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7115175" y="4791075"/>
            <a:ext cx="1704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www.cybercrime.gov.in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3805237" y="476250"/>
            <a:ext cx="481060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Reporting and Cyber Laws</a:t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3805237" y="1095375"/>
            <a:ext cx="458152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235993"/>
            <a:ext cx="5262562" cy="331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235993"/>
            <a:ext cx="5262562" cy="331946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962025" y="2531268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Technical Learnings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962025" y="2959893"/>
            <a:ext cx="4672012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Signal Vulnerability: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Understood how unencrypted wireless signals and communication packets are easily captured by attackers.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962025" y="3851076"/>
            <a:ext cx="4672012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Cryptography Application: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Learned the practical deployment of security algorithms (AES, RSA) to secure routing channels.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962025" y="4742259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Hardware Auditing: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Discovered the importance of protecting hardware interfaces (JTAG, UART) in IoT nodes.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6557962" y="2531268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Practical &amp; Legal Insights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6557962" y="2959893"/>
            <a:ext cx="4672012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Human Vector Factor: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Realized that a high percentage of security failures occur due to human errors and social engineering (Phishing/OTP scams).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6557962" y="3851076"/>
            <a:ext cx="4672012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Legal Protocols: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Acquired structural knowledge about cyber laws like the IT Act, 2000 and standard legal reporting frameworks.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6557962" y="4742259"/>
            <a:ext cx="4672012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Proactive Mitigation: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Learned that network security is a continuous cycle of auditing, patching, and awareness.</a:t>
            </a:r>
            <a:endParaRPr/>
          </a:p>
        </p:txBody>
      </p:sp>
      <p:pic>
        <p:nvPicPr>
          <p:cNvPr id="311" name="Google Shape;31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578893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7962" y="2578893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3733800" y="476250"/>
            <a:ext cx="496062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Learnings from Project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3733800" y="1095375"/>
            <a:ext cx="47244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4;p24"/>
          <p:cNvSpPr txBox="1"/>
          <p:nvPr/>
        </p:nvSpPr>
        <p:spPr>
          <a:xfrm>
            <a:off x="3329749" y="1728978"/>
            <a:ext cx="481060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sng" strike="noStrike" cap="none" dirty="0" err="1" smtClean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n-US" sz="2700" b="1" i="0" u="sng" strike="noStrike" cap="none" dirty="0" smtClean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Hub Link For Project</a:t>
            </a:r>
            <a:endParaRPr u="sng"/>
          </a:p>
        </p:txBody>
      </p:sp>
      <p:sp>
        <p:nvSpPr>
          <p:cNvPr id="6" name="Rectangle 5"/>
          <p:cNvSpPr/>
          <p:nvPr/>
        </p:nvSpPr>
        <p:spPr>
          <a:xfrm>
            <a:off x="621792" y="3059668"/>
            <a:ext cx="107990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github.com/patelsubh2008-coder/subham-patel/blob/main/Cyber%20Fraud%20COMPUTER%20IN%20DIPLOMA.pptx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 txBox="1"/>
          <p:nvPr/>
        </p:nvSpPr>
        <p:spPr>
          <a:xfrm>
            <a:off x="1809750" y="2519362"/>
            <a:ext cx="85725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"As communication technology becomes more sophisticated, our responsibility to safeguard digital transit increases. Security is not a static setup, but an ongoing process of active awareness and engineering rigor."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3643312" y="5043487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— Electronics &amp; Communication Engineering Principle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1428750" y="1995487"/>
            <a:ext cx="47625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5095875" y="476250"/>
            <a:ext cx="210026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5095875" y="1095375"/>
            <a:ext cx="200025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6625" y="4349055"/>
            <a:ext cx="52387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7"/>
          <p:cNvSpPr txBox="1"/>
          <p:nvPr/>
        </p:nvSpPr>
        <p:spPr>
          <a:xfrm>
            <a:off x="3070621" y="2118419"/>
            <a:ext cx="6050756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 &amp; Answers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2881312" y="3070919"/>
            <a:ext cx="6429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Your inquiries and suggestions regarding this study are welcome.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5203317" y="4962846"/>
            <a:ext cx="16573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1098</Words>
  <PresentationFormat>Custom</PresentationFormat>
  <Paragraphs>103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Inter Medium</vt:lpstr>
      <vt:lpstr>Poppins</vt:lpstr>
      <vt:lpstr>Inter SemiBold</vt:lpstr>
      <vt:lpstr>Calibri</vt:lpstr>
      <vt:lpstr>Inter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Forever</cp:lastModifiedBy>
  <cp:revision>5</cp:revision>
  <dcterms:modified xsi:type="dcterms:W3CDTF">2026-06-24T10:06:23Z</dcterms:modified>
</cp:coreProperties>
</file>